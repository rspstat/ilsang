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327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E6DB">
                  <a:alpha val="100000"/>
                </a:srgbClr>
              </a:gs>
              <a:gs pos="55000">
                <a:srgbClr val="FCF9F7">
                  <a:alpha val="100000"/>
                </a:srgbClr>
              </a:gs>
            </a:gsLst>
            <a:lin ang="1800000" scaled="0"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3831" r="-3831"/>
          <a:stretch/>
        </p:blipFill>
        <p:spPr>
          <a:xfrm>
            <a:off x="952500" y="952500"/>
            <a:ext cx="323850" cy="323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957263"/>
            <a:ext cx="8572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C00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문어씨</a:t>
            </a:r>
            <a:endParaRPr lang="en-US" sz="1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2548741" y="938212"/>
            <a:ext cx="126503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2636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사업소개서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952500" y="1885950"/>
            <a:ext cx="8044815" cy="159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022"/>
              </a:lnSpc>
              <a:buNone/>
            </a:pPr>
            <a:r>
              <a:rPr lang="en-US" sz="4800" b="1" kern="0" spc="-96" dirty="0">
                <a:solidFill>
                  <a:srgbClr val="15151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당신도 모르는 사이, 문어발처럼 뻗어나간 구독</a:t>
            </a:r>
            <a:endParaRPr lang="en-US" sz="4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952500" y="3789164"/>
            <a:ext cx="784860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769"/>
              </a:lnSpc>
              <a:buNone/>
            </a:pPr>
            <a:r>
              <a:rPr lang="en-US" sz="2550" dirty="0">
                <a:solidFill>
                  <a:srgbClr val="62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넷플릭스, </a:t>
            </a:r>
            <a:r>
              <a:rPr lang="ko-KR" altLang="en-US" sz="2550" dirty="0">
                <a:solidFill>
                  <a:srgbClr val="62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유튜브 프리미엄</a:t>
            </a:r>
            <a:r>
              <a:rPr lang="en-US" sz="2550" dirty="0">
                <a:solidFill>
                  <a:srgbClr val="62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디즈니플러스... 평균 몇 개나 구독하고 있는지, 그중 몇 개를 실제로 쓰고 있는지는 아무도 모릅니다.</a:t>
            </a:r>
            <a:endParaRPr lang="en-US" sz="2550" dirty="0"/>
          </a:p>
        </p:txBody>
      </p:sp>
      <p:sp>
        <p:nvSpPr>
          <p:cNvPr id="8" name="Shape 5"/>
          <p:cNvSpPr/>
          <p:nvPr/>
        </p:nvSpPr>
        <p:spPr>
          <a:xfrm>
            <a:off x="952500" y="6422231"/>
            <a:ext cx="2943820" cy="2597944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/>
          <a:effectLst>
            <a:outerShdw blurRad="266700" dist="114300" dir="5400000" algn="bl" rotWithShape="0">
              <a:srgbClr val="7C00A2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181100" y="6688931"/>
            <a:ext cx="2735282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7C0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2.7개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1181100" y="7346156"/>
            <a:ext cx="2562820" cy="115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62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유료 OTT 구독자의 평균 중복 가입 개수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4124920" y="6422231"/>
            <a:ext cx="2943820" cy="2597944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/>
          <a:effectLst>
            <a:outerShdw blurRad="266700" dist="114300" dir="5400000" algn="bl" rotWithShape="0">
              <a:srgbClr val="7C00A2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353520" y="6688931"/>
            <a:ext cx="273528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7C0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95.9%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4353520" y="7260431"/>
            <a:ext cx="2562820" cy="1531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62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구독 서비스를 1개 이상 이용 중인 소비자 비율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7297341" y="6422231"/>
            <a:ext cx="2943820" cy="2597944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/>
          <a:effectLst>
            <a:outerShdw blurRad="266700" dist="114300" dir="5400000" algn="bl" rotWithShape="0">
              <a:srgbClr val="7C00A2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525941" y="6688931"/>
            <a:ext cx="273528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7C0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58.4%</a:t>
            </a:r>
            <a:endParaRPr lang="en-US" sz="3300" dirty="0"/>
          </a:p>
        </p:txBody>
      </p:sp>
      <p:sp>
        <p:nvSpPr>
          <p:cNvPr id="16" name="Text 13"/>
          <p:cNvSpPr/>
          <p:nvPr/>
        </p:nvSpPr>
        <p:spPr>
          <a:xfrm>
            <a:off x="7525941" y="7260431"/>
            <a:ext cx="2562820" cy="1531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62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구독 해지에 어려움을 겪은 경험이 있다고 응답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952500" y="9210675"/>
            <a:ext cx="1021752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한국방송광고진흥공사 미디어이슈&amp;트렌드, 서울시 구독서비스 이용현황 실태조사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2359432" y="3238500"/>
            <a:ext cx="3810000" cy="3810000"/>
          </a:xfrm>
          <a:prstGeom prst="ellipse">
            <a:avLst/>
          </a:prstGeom>
          <a:gradFill rotWithShape="1">
            <a:gsLst>
              <a:gs pos="0">
                <a:srgbClr val="FFBAA6">
                  <a:alpha val="35000"/>
                </a:srgbClr>
              </a:gs>
              <a:gs pos="70000">
                <a:srgbClr val="FFBAA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rcRect l="-3831" r="-3831"/>
          <a:stretch/>
        </p:blipFill>
        <p:spPr>
          <a:xfrm>
            <a:off x="12645182" y="3524250"/>
            <a:ext cx="3238500" cy="32385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 rot="-480000">
            <a:off x="13407182" y="2381250"/>
            <a:ext cx="647700" cy="64770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  <a:effectLst>
            <a:outerShdw blurRad="209550" dist="9525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rcRect l="21862" r="21862"/>
          <a:stretch/>
        </p:blipFill>
        <p:spPr>
          <a:xfrm>
            <a:off x="13386778" y="2360846"/>
            <a:ext cx="688507" cy="688507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 rot="300000">
            <a:off x="15693182" y="3048000"/>
            <a:ext cx="800100" cy="80010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  <a:effectLst>
            <a:outerShdw blurRad="209550" dist="9525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680475" y="3035294"/>
            <a:ext cx="825512" cy="825513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 rot="599999">
            <a:off x="15978932" y="5486400"/>
            <a:ext cx="552450" cy="55245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  <a:effectLst>
            <a:outerShdw blurRad="209550" dist="9525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957231" y="5464699"/>
            <a:ext cx="595852" cy="59585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 rot="-359998">
            <a:off x="14264432" y="7010400"/>
            <a:ext cx="723900" cy="72390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  <a:effectLst>
            <a:outerShdw blurRad="209550" dist="9525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249517" y="6995486"/>
            <a:ext cx="753728" cy="753728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 rot="480000">
            <a:off x="11502182" y="5867400"/>
            <a:ext cx="590550" cy="59055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  <a:effectLst>
            <a:outerShdw blurRad="209550" dist="9525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1485477" y="5850695"/>
            <a:ext cx="623960" cy="623960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 rot="-599999">
            <a:off x="11635532" y="3467100"/>
            <a:ext cx="476250" cy="47625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  <a:effectLst>
            <a:outerShdw blurRad="209550" dist="9525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619867" y="3451436"/>
            <a:ext cx="507578" cy="5075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02175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C55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499" y="1447800"/>
            <a:ext cx="10086975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4800" b="1" kern="0" spc="-96" dirty="0">
                <a:solidFill>
                  <a:srgbClr val="15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문어발 구독, AI가 정리해드립니다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3352800"/>
            <a:ext cx="7848600" cy="1543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b="1" dirty="0">
                <a:solidFill>
                  <a:srgbClr val="15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구독을 한 곳에 모아 보여주는 걸 넘어, AI가 실제 행동—해지·전환·통합—까지 제안하는 서비스입니다.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5467945"/>
            <a:ext cx="1021752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42" dirty="0">
                <a:solidFill>
                  <a:srgbClr val="62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동작하나요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6125170"/>
            <a:ext cx="2007840" cy="1706761"/>
          </a:xfrm>
          <a:prstGeom prst="roundRect">
            <a:avLst>
              <a:gd name="adj" fmla="val 10045"/>
            </a:avLst>
          </a:prstGeom>
          <a:solidFill>
            <a:srgbClr val="FFFFFF"/>
          </a:solidFill>
          <a:ln/>
          <a:effectLst>
            <a:outerShdw blurRad="228600" dist="95250" dir="5400000" algn="bl" rotWithShape="0">
              <a:srgbClr val="7C00A2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62050" y="6372820"/>
            <a:ext cx="419100" cy="419100"/>
          </a:xfrm>
          <a:prstGeom prst="ellipse">
            <a:avLst/>
          </a:prstGeom>
          <a:solidFill>
            <a:srgbClr val="7C00A2"/>
          </a:solidFill>
          <a:ln/>
        </p:spPr>
      </p:sp>
      <p:sp>
        <p:nvSpPr>
          <p:cNvPr id="8" name="Text 6"/>
          <p:cNvSpPr/>
          <p:nvPr/>
        </p:nvSpPr>
        <p:spPr>
          <a:xfrm>
            <a:off x="1123950" y="637282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62050" y="6944320"/>
            <a:ext cx="166494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5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오픈뱅킹 연동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22240" y="6125170"/>
            <a:ext cx="495300" cy="174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62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3379440" y="6125170"/>
            <a:ext cx="2007840" cy="1706761"/>
          </a:xfrm>
          <a:prstGeom prst="roundRect">
            <a:avLst>
              <a:gd name="adj" fmla="val 10045"/>
            </a:avLst>
          </a:prstGeom>
          <a:solidFill>
            <a:srgbClr val="FFFFFF"/>
          </a:solidFill>
          <a:ln/>
          <a:effectLst>
            <a:outerShdw blurRad="228600" dist="95250" dir="5400000" algn="bl" rotWithShape="0">
              <a:srgbClr val="7C00A2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88990" y="6372820"/>
            <a:ext cx="419100" cy="419100"/>
          </a:xfrm>
          <a:prstGeom prst="ellipse">
            <a:avLst/>
          </a:prstGeom>
          <a:solidFill>
            <a:srgbClr val="7C00A2"/>
          </a:solidFill>
          <a:ln/>
        </p:spPr>
      </p:sp>
      <p:sp>
        <p:nvSpPr>
          <p:cNvPr id="13" name="Text 11"/>
          <p:cNvSpPr/>
          <p:nvPr/>
        </p:nvSpPr>
        <p:spPr>
          <a:xfrm>
            <a:off x="3550890" y="637282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88990" y="6944320"/>
            <a:ext cx="166494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5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구독 자동 수집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49180" y="6125170"/>
            <a:ext cx="495300" cy="174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62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5806380" y="6125170"/>
            <a:ext cx="2007840" cy="1706761"/>
          </a:xfrm>
          <a:prstGeom prst="roundRect">
            <a:avLst>
              <a:gd name="adj" fmla="val 10045"/>
            </a:avLst>
          </a:prstGeom>
          <a:solidFill>
            <a:srgbClr val="FFFFFF"/>
          </a:solidFill>
          <a:ln/>
          <a:effectLst>
            <a:outerShdw blurRad="228600" dist="95250" dir="5400000" algn="bl" rotWithShape="0">
              <a:srgbClr val="7C00A2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15930" y="6372820"/>
            <a:ext cx="419100" cy="419100"/>
          </a:xfrm>
          <a:prstGeom prst="ellipse">
            <a:avLst/>
          </a:prstGeom>
          <a:solidFill>
            <a:srgbClr val="7C00A2"/>
          </a:solidFill>
          <a:ln/>
        </p:spPr>
      </p:sp>
      <p:sp>
        <p:nvSpPr>
          <p:cNvPr id="18" name="Text 16"/>
          <p:cNvSpPr/>
          <p:nvPr/>
        </p:nvSpPr>
        <p:spPr>
          <a:xfrm>
            <a:off x="5977830" y="637282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15930" y="6944320"/>
            <a:ext cx="166494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5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 패턴 AI 분석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6121" y="6125170"/>
            <a:ext cx="495300" cy="174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62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8233321" y="6125170"/>
            <a:ext cx="2007840" cy="1706761"/>
          </a:xfrm>
          <a:prstGeom prst="roundRect">
            <a:avLst>
              <a:gd name="adj" fmla="val 10045"/>
            </a:avLst>
          </a:prstGeom>
          <a:solidFill>
            <a:srgbClr val="7C00A2"/>
          </a:solidFill>
          <a:ln/>
          <a:effectLst>
            <a:outerShdw blurRad="228600" dist="95250" dir="5400000" algn="bl" rotWithShape="0">
              <a:srgbClr val="7C00A2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42871" y="6372820"/>
            <a:ext cx="419100" cy="4191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404771" y="637282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0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42871" y="6944320"/>
            <a:ext cx="166494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액션 카드로 제안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039475" y="0"/>
            <a:ext cx="7258050" cy="10267950"/>
          </a:xfrm>
          <a:prstGeom prst="rect">
            <a:avLst/>
          </a:prstGeom>
          <a:gradFill rotWithShape="1">
            <a:gsLst>
              <a:gs pos="0">
                <a:srgbClr val="FFE2D5">
                  <a:alpha val="100000"/>
                </a:srgbClr>
              </a:gs>
              <a:gs pos="65000">
                <a:srgbClr val="FCF9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6" name="Shape 24"/>
          <p:cNvSpPr/>
          <p:nvPr/>
        </p:nvSpPr>
        <p:spPr>
          <a:xfrm>
            <a:off x="13049250" y="1657350"/>
            <a:ext cx="3238500" cy="69532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666750" dist="28575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rcRect t="12" b="12"/>
          <a:stretch/>
        </p:blipFill>
        <p:spPr>
          <a:xfrm>
            <a:off x="13049250" y="1657350"/>
            <a:ext cx="3238500" cy="6953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C55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47800"/>
            <a:ext cx="180213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258"/>
              </a:lnSpc>
              <a:buNone/>
            </a:pPr>
            <a:r>
              <a:rPr lang="en-US" sz="3300" b="1" kern="0" spc="-33" dirty="0">
                <a:solidFill>
                  <a:srgbClr val="15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6가지 기능 중, 임팩트가 가장 큰 3가지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52500" y="2525911"/>
            <a:ext cx="5206901" cy="3810000"/>
          </a:xfrm>
          <a:prstGeom prst="roundRect">
            <a:avLst>
              <a:gd name="adj" fmla="val 6000"/>
            </a:avLst>
          </a:prstGeom>
          <a:ln/>
          <a:effectLst>
            <a:outerShdw blurRad="438150" dist="1905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b="65928"/>
          <a:stretch/>
        </p:blipFill>
        <p:spPr>
          <a:xfrm>
            <a:off x="952500" y="2525911"/>
            <a:ext cx="5206901" cy="3810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500" y="6640711"/>
            <a:ext cx="1244650" cy="419100"/>
          </a:xfrm>
          <a:prstGeom prst="roundRect">
            <a:avLst>
              <a:gd name="adj" fmla="val 18182"/>
            </a:avLst>
          </a:prstGeom>
          <a:solidFill>
            <a:srgbClr val="FFE8E1"/>
          </a:solidFill>
          <a:ln/>
        </p:spPr>
      </p:sp>
      <p:sp>
        <p:nvSpPr>
          <p:cNvPr id="7" name="Text 4"/>
          <p:cNvSpPr/>
          <p:nvPr/>
        </p:nvSpPr>
        <p:spPr>
          <a:xfrm>
            <a:off x="1085850" y="6697861"/>
            <a:ext cx="1054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55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낭비 탐지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52500" y="7212211"/>
            <a:ext cx="536310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b="1" dirty="0">
                <a:solidFill>
                  <a:srgbClr val="15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스노우 2개월째 안 켰어요, 매달 11,900원 새는 중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6540401" y="2525911"/>
            <a:ext cx="5207050" cy="3810000"/>
          </a:xfrm>
          <a:prstGeom prst="roundRect">
            <a:avLst>
              <a:gd name="adj" fmla="val 6000"/>
            </a:avLst>
          </a:prstGeom>
          <a:ln/>
          <a:effectLst>
            <a:outerShdw blurRad="438150" dist="1905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 t="35774" b="30155"/>
          <a:stretch/>
        </p:blipFill>
        <p:spPr>
          <a:xfrm>
            <a:off x="6540401" y="2525911"/>
            <a:ext cx="5207050" cy="3810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40401" y="6640711"/>
            <a:ext cx="1244650" cy="419100"/>
          </a:xfrm>
          <a:prstGeom prst="roundRect">
            <a:avLst>
              <a:gd name="adj" fmla="val 18182"/>
            </a:avLst>
          </a:prstGeom>
          <a:solidFill>
            <a:srgbClr val="EEE7FD"/>
          </a:solidFill>
          <a:ln/>
        </p:spPr>
      </p:sp>
      <p:sp>
        <p:nvSpPr>
          <p:cNvPr id="12" name="Text 8"/>
          <p:cNvSpPr/>
          <p:nvPr/>
        </p:nvSpPr>
        <p:spPr>
          <a:xfrm>
            <a:off x="6673751" y="6697861"/>
            <a:ext cx="1054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C0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감지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40401" y="7212211"/>
            <a:ext cx="536326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b="1" dirty="0">
                <a:solidFill>
                  <a:srgbClr val="15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넷플릭스·티빙·디즈니플러스 동시 구독 중, 하나면 충분해요</a:t>
            </a:r>
            <a:endParaRPr lang="en-US" sz="1950" dirty="0"/>
          </a:p>
        </p:txBody>
      </p:sp>
      <p:sp>
        <p:nvSpPr>
          <p:cNvPr id="14" name="Shape 10"/>
          <p:cNvSpPr/>
          <p:nvPr/>
        </p:nvSpPr>
        <p:spPr>
          <a:xfrm>
            <a:off x="12128450" y="2525911"/>
            <a:ext cx="5207050" cy="3810000"/>
          </a:xfrm>
          <a:prstGeom prst="roundRect">
            <a:avLst>
              <a:gd name="adj" fmla="val 6000"/>
            </a:avLst>
          </a:prstGeom>
          <a:ln/>
          <a:effectLst>
            <a:outerShdw blurRad="438150" dist="1905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 b="65929"/>
          <a:stretch/>
        </p:blipFill>
        <p:spPr>
          <a:xfrm>
            <a:off x="12128450" y="2525911"/>
            <a:ext cx="5207050" cy="38100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2128450" y="6640711"/>
            <a:ext cx="1930450" cy="419100"/>
          </a:xfrm>
          <a:prstGeom prst="roundRect">
            <a:avLst>
              <a:gd name="adj" fmla="val 18182"/>
            </a:avLst>
          </a:prstGeom>
          <a:solidFill>
            <a:srgbClr val="FBEAE5"/>
          </a:solidFill>
          <a:ln/>
        </p:spPr>
      </p:sp>
      <p:sp>
        <p:nvSpPr>
          <p:cNvPr id="17" name="Text 12"/>
          <p:cNvSpPr/>
          <p:nvPr/>
        </p:nvSpPr>
        <p:spPr>
          <a:xfrm>
            <a:off x="12261800" y="6697861"/>
            <a:ext cx="1739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55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절약 시뮬레이션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2128450" y="7212211"/>
            <a:ext cx="536326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b="1" dirty="0">
                <a:solidFill>
                  <a:srgbClr val="15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해지 항목 체크하면 실시간 "연간 얼마 절약" 계산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94128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C55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47800"/>
            <a:ext cx="9412888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258"/>
              </a:lnSpc>
              <a:buNone/>
            </a:pPr>
            <a:r>
              <a:rPr lang="en-US" sz="3300" b="1" kern="0" spc="-33" dirty="0">
                <a:solidFill>
                  <a:srgbClr val="15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"보여주기"가 아니라 "제안"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52500" y="2449711"/>
            <a:ext cx="8557171" cy="4762500"/>
          </a:xfrm>
          <a:prstGeom prst="roundRect">
            <a:avLst>
              <a:gd name="adj" fmla="val 4800"/>
            </a:avLst>
          </a:prstGeom>
          <a:ln/>
          <a:effectLst>
            <a:outerShdw blurRad="285750" dist="1143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2500" y="2449711"/>
            <a:ext cx="4278511" cy="1076325"/>
          </a:xfrm>
          <a:prstGeom prst="rect">
            <a:avLst/>
          </a:prstGeom>
          <a:solidFill>
            <a:srgbClr val="EAEBEF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2678311"/>
            <a:ext cx="387346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2636A"/>
                </a:solidFill>
                <a:highlight>
                  <a:srgbClr val="EAEBE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기존 서비스 </a:t>
            </a:r>
            <a:r>
              <a:rPr lang="en-US" sz="1800" dirty="0">
                <a:solidFill>
                  <a:srgbClr val="62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뱅크샐러드 · 토스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231011" y="2449711"/>
            <a:ext cx="4278660" cy="1076325"/>
          </a:xfrm>
          <a:prstGeom prst="rect">
            <a:avLst/>
          </a:prstGeom>
          <a:solidFill>
            <a:srgbClr val="7C00A2"/>
          </a:solidFill>
          <a:ln/>
        </p:spPr>
      </p:sp>
      <p:sp>
        <p:nvSpPr>
          <p:cNvPr id="8" name="Text 6"/>
          <p:cNvSpPr/>
          <p:nvPr/>
        </p:nvSpPr>
        <p:spPr>
          <a:xfrm>
            <a:off x="5497711" y="2678311"/>
            <a:ext cx="387362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highlight>
                  <a:srgbClr val="7C00A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문어씨 </a:t>
            </a: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딥퍼플 + 코랄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3526036"/>
            <a:ext cx="8557171" cy="9525"/>
          </a:xfrm>
          <a:prstGeom prst="rect">
            <a:avLst/>
          </a:prstGeom>
          <a:solidFill>
            <a:srgbClr val="E3E4E9"/>
          </a:solidFill>
          <a:ln/>
        </p:spPr>
      </p:sp>
      <p:sp>
        <p:nvSpPr>
          <p:cNvPr id="10" name="Shape 8"/>
          <p:cNvSpPr/>
          <p:nvPr/>
        </p:nvSpPr>
        <p:spPr>
          <a:xfrm>
            <a:off x="952500" y="3535561"/>
            <a:ext cx="4278511" cy="121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19200" y="3802261"/>
            <a:ext cx="387346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800" dirty="0">
                <a:solidFill>
                  <a:srgbClr val="15151D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자산·구독을 한눈에 모아 보여주기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31011" y="3535561"/>
            <a:ext cx="4278660" cy="1219200"/>
          </a:xfrm>
          <a:prstGeom prst="rect">
            <a:avLst/>
          </a:prstGeom>
          <a:solidFill>
            <a:srgbClr val="F7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97711" y="3802261"/>
            <a:ext cx="38736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800" b="1" dirty="0">
                <a:solidFill>
                  <a:srgbClr val="7C00A2"/>
                </a:solidFill>
                <a:highlight>
                  <a:srgbClr val="F7F2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모아 보여주고, AI가 행동까지 제안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4754761"/>
            <a:ext cx="8557171" cy="9525"/>
          </a:xfrm>
          <a:prstGeom prst="rect">
            <a:avLst/>
          </a:prstGeom>
          <a:solidFill>
            <a:srgbClr val="E3E4E9"/>
          </a:solidFill>
          <a:ln/>
        </p:spPr>
      </p:sp>
      <p:sp>
        <p:nvSpPr>
          <p:cNvPr id="15" name="Shape 13"/>
          <p:cNvSpPr/>
          <p:nvPr/>
        </p:nvSpPr>
        <p:spPr>
          <a:xfrm>
            <a:off x="952500" y="4764286"/>
            <a:ext cx="4278511" cy="121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219200" y="5030986"/>
            <a:ext cx="387346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800" dirty="0">
                <a:solidFill>
                  <a:srgbClr val="15151D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해지·전환 여부는 사용자가 직접 판단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231011" y="4764286"/>
            <a:ext cx="4278660" cy="1219200"/>
          </a:xfrm>
          <a:prstGeom prst="rect">
            <a:avLst/>
          </a:prstGeom>
          <a:solidFill>
            <a:srgbClr val="F7F2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97711" y="5030986"/>
            <a:ext cx="38736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800" b="1" dirty="0">
                <a:solidFill>
                  <a:srgbClr val="7C00A2"/>
                </a:solidFill>
                <a:highlight>
                  <a:srgbClr val="F7F2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"이거 해지, 이걸로 전환" 구체적 액션 카드 제시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2500" y="5983486"/>
            <a:ext cx="8557171" cy="9525"/>
          </a:xfrm>
          <a:prstGeom prst="rect">
            <a:avLst/>
          </a:prstGeom>
          <a:solidFill>
            <a:srgbClr val="E3E4E9"/>
          </a:solidFill>
          <a:ln/>
        </p:spPr>
      </p:sp>
      <p:sp>
        <p:nvSpPr>
          <p:cNvPr id="20" name="Shape 18"/>
          <p:cNvSpPr/>
          <p:nvPr/>
        </p:nvSpPr>
        <p:spPr>
          <a:xfrm>
            <a:off x="952500" y="5993011"/>
            <a:ext cx="4278511" cy="121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219200" y="6259711"/>
            <a:ext cx="387346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800" dirty="0">
                <a:solidFill>
                  <a:srgbClr val="15151D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브랜드 컬러 블루 · 그린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231011" y="5993011"/>
            <a:ext cx="4278660" cy="1219200"/>
          </a:xfrm>
          <a:prstGeom prst="rect">
            <a:avLst/>
          </a:prstGeom>
          <a:solidFill>
            <a:srgbClr val="F7F2FF"/>
          </a:solidFill>
          <a:ln/>
        </p:spPr>
      </p:sp>
      <p:sp>
        <p:nvSpPr>
          <p:cNvPr id="23" name="Text 21"/>
          <p:cNvSpPr/>
          <p:nvPr/>
        </p:nvSpPr>
        <p:spPr>
          <a:xfrm>
            <a:off x="5497711" y="6259711"/>
            <a:ext cx="38736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800" b="1" dirty="0">
                <a:solidFill>
                  <a:srgbClr val="7C00A2"/>
                </a:solidFill>
                <a:highlight>
                  <a:srgbClr val="F7F2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브랜드 컬러 딥퍼플 · 코랄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09671" y="0"/>
            <a:ext cx="8778180" cy="10287000"/>
          </a:xfrm>
          <a:prstGeom prst="rect">
            <a:avLst/>
          </a:prstGeom>
          <a:gradFill rotWithShape="1">
            <a:gsLst>
              <a:gs pos="0">
                <a:srgbClr val="FFE2D5">
                  <a:alpha val="100000"/>
                </a:srgbClr>
              </a:gs>
              <a:gs pos="65000">
                <a:srgbClr val="FCF9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5" name="Shape 23"/>
          <p:cNvSpPr/>
          <p:nvPr/>
        </p:nvSpPr>
        <p:spPr>
          <a:xfrm>
            <a:off x="12279511" y="1666875"/>
            <a:ext cx="3238500" cy="69532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666750" dist="28575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rcRect t="12" b="12"/>
          <a:stretch/>
        </p:blipFill>
        <p:spPr>
          <a:xfrm>
            <a:off x="12279511" y="1666875"/>
            <a:ext cx="3238500" cy="6953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C00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06500" y="5905500"/>
            <a:ext cx="5715000" cy="5715000"/>
          </a:xfrm>
          <a:prstGeom prst="ellipse">
            <a:avLst/>
          </a:prstGeom>
          <a:solidFill>
            <a:srgbClr val="7B64A3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9525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DD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&amp; SCALE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47800"/>
            <a:ext cx="180213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258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지출관리에서, 정기결제 전반으로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52500" y="2525911"/>
            <a:ext cx="86963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구독경제 시장 규모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3316486"/>
            <a:ext cx="1826196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40조원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52500" y="4068961"/>
            <a:ext cx="182619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79378" y="3526036"/>
            <a:ext cx="40213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472011" y="3068836"/>
            <a:ext cx="3074983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BCB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100조원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3472011" y="4116586"/>
            <a:ext cx="307498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전망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2500" y="4621411"/>
            <a:ext cx="86963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KT경제경영연구소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2500" y="5469136"/>
            <a:ext cx="86963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로드맵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52500" y="6697861"/>
            <a:ext cx="790575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52500" y="6326386"/>
            <a:ext cx="95250" cy="95250"/>
          </a:xfrm>
          <a:prstGeom prst="ellipse">
            <a:avLst/>
          </a:prstGeom>
          <a:solidFill>
            <a:srgbClr val="FBCBBA"/>
          </a:solidFill>
          <a:ln/>
        </p:spPr>
      </p:sp>
      <p:sp>
        <p:nvSpPr>
          <p:cNvPr id="15" name="Text 13"/>
          <p:cNvSpPr/>
          <p:nvPr/>
        </p:nvSpPr>
        <p:spPr>
          <a:xfrm>
            <a:off x="1238250" y="6221611"/>
            <a:ext cx="164856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구독 관리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7355086"/>
            <a:ext cx="790575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" y="6983611"/>
            <a:ext cx="95250" cy="9525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238250" y="6878836"/>
            <a:ext cx="19000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 플랜 최적화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2500" y="7640836"/>
            <a:ext cx="95250" cy="9525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238250" y="7536061"/>
            <a:ext cx="4526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통신비 · 보험 등 정기결제 전반으로 확장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429750" y="2525911"/>
            <a:ext cx="7905750" cy="1466850"/>
          </a:xfrm>
          <a:prstGeom prst="roundRect">
            <a:avLst>
              <a:gd name="adj" fmla="val 155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734550" y="2830711"/>
            <a:ext cx="802576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모델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734550" y="3316486"/>
            <a:ext cx="80257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절약액 기반 수수료 또는 프리미엄 구독 — 구체적 모델은 검토 중</a:t>
            </a:r>
            <a:endParaRPr lang="en-US" sz="19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rcRect l="-3831" r="-3831"/>
          <a:stretch/>
        </p:blipFill>
        <p:spPr>
          <a:xfrm>
            <a:off x="9429750" y="8579197"/>
            <a:ext cx="914400" cy="9144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572750" y="8547795"/>
            <a:ext cx="4411772" cy="101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문어발처럼 뻗어나간 지출, 문어씨가 정리해드립니다</a:t>
            </a:r>
            <a:endParaRPr lang="en-US" sz="2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298</Words>
  <Application>Microsoft Office PowerPoint</Application>
  <PresentationFormat>Custom</PresentationFormat>
  <Paragraphs>65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Noto Sans KR</vt:lpstr>
      <vt:lpstr>맑은 고딕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win11</cp:lastModifiedBy>
  <cp:revision>2</cp:revision>
  <dcterms:created xsi:type="dcterms:W3CDTF">2026-08-10T12:33:35Z</dcterms:created>
  <dcterms:modified xsi:type="dcterms:W3CDTF">2026-08-14T11:03:53Z</dcterms:modified>
</cp:coreProperties>
</file>